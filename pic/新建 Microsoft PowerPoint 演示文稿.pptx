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</p:sldIdLst>
  <p:sldSz cx="17279938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2" userDrawn="1">
          <p15:clr>
            <a:srgbClr val="A4A3A4"/>
          </p15:clr>
        </p15:guide>
        <p15:guide id="2" pos="54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CFF"/>
    <a:srgbClr val="EDF7FF"/>
    <a:srgbClr val="FCF1E0"/>
    <a:srgbClr val="FBE3D6"/>
    <a:srgbClr val="FCE5E8"/>
    <a:srgbClr val="F5FFF5"/>
    <a:srgbClr val="99E6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624" y="480"/>
      </p:cViewPr>
      <p:guideLst>
        <p:guide orient="horz" pos="3062"/>
        <p:guide pos="54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3" y="1590794"/>
            <a:ext cx="12959954" cy="3384092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3" y="5105390"/>
            <a:ext cx="12959954" cy="2346813"/>
          </a:xfrm>
        </p:spPr>
        <p:txBody>
          <a:bodyPr/>
          <a:lstStyle>
            <a:lvl1pPr marL="0" indent="0" algn="ctr">
              <a:buNone/>
              <a:defRPr sz="3401"/>
            </a:lvl1pPr>
            <a:lvl2pPr marL="647950" indent="0" algn="ctr">
              <a:buNone/>
              <a:defRPr sz="2835"/>
            </a:lvl2pPr>
            <a:lvl3pPr marL="1295898" indent="0" algn="ctr">
              <a:buNone/>
              <a:defRPr sz="2551"/>
            </a:lvl3pPr>
            <a:lvl4pPr marL="1943848" indent="0" algn="ctr">
              <a:buNone/>
              <a:defRPr sz="2268"/>
            </a:lvl4pPr>
            <a:lvl5pPr marL="2591796" indent="0" algn="ctr">
              <a:buNone/>
              <a:defRPr sz="2268"/>
            </a:lvl5pPr>
            <a:lvl6pPr marL="3239745" indent="0" algn="ctr">
              <a:buNone/>
              <a:defRPr sz="2268"/>
            </a:lvl6pPr>
            <a:lvl7pPr marL="3887694" indent="0" algn="ctr">
              <a:buNone/>
              <a:defRPr sz="2268"/>
            </a:lvl7pPr>
            <a:lvl8pPr marL="4535644" indent="0" algn="ctr">
              <a:buNone/>
              <a:defRPr sz="2268"/>
            </a:lvl8pPr>
            <a:lvl9pPr marL="5183592" indent="0" algn="ctr">
              <a:buNone/>
              <a:defRPr sz="226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04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2423321"/>
            <a:ext cx="14903947" cy="4043359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6504931"/>
            <a:ext cx="14903947" cy="2126307"/>
          </a:xfrm>
        </p:spPr>
        <p:txBody>
          <a:bodyPr/>
          <a:lstStyle>
            <a:lvl1pPr marL="0" indent="0">
              <a:buNone/>
              <a:defRPr sz="3401">
                <a:solidFill>
                  <a:schemeClr val="tx1">
                    <a:tint val="82000"/>
                  </a:schemeClr>
                </a:solidFill>
              </a:defRPr>
            </a:lvl1pPr>
            <a:lvl2pPr marL="64795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2pPr>
            <a:lvl3pPr marL="1295898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3pPr>
            <a:lvl4pPr marL="1943848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4pPr>
            <a:lvl5pPr marL="2591796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5pPr>
            <a:lvl6pPr marL="3239745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6pPr>
            <a:lvl7pPr marL="388769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7pPr>
            <a:lvl8pPr marL="453564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8pPr>
            <a:lvl9pPr marL="5183592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05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8" y="2587570"/>
            <a:ext cx="7343973" cy="6167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9" y="2587570"/>
            <a:ext cx="7343973" cy="6167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95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517514"/>
            <a:ext cx="14903947" cy="18788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9" y="2382819"/>
            <a:ext cx="7310223" cy="1167781"/>
          </a:xfrm>
        </p:spPr>
        <p:txBody>
          <a:bodyPr anchor="b"/>
          <a:lstStyle>
            <a:lvl1pPr marL="0" indent="0">
              <a:buNone/>
              <a:defRPr sz="3401" b="1"/>
            </a:lvl1pPr>
            <a:lvl2pPr marL="647950" indent="0">
              <a:buNone/>
              <a:defRPr sz="2835" b="1"/>
            </a:lvl2pPr>
            <a:lvl3pPr marL="1295898" indent="0">
              <a:buNone/>
              <a:defRPr sz="2551" b="1"/>
            </a:lvl3pPr>
            <a:lvl4pPr marL="1943848" indent="0">
              <a:buNone/>
              <a:defRPr sz="2268" b="1"/>
            </a:lvl4pPr>
            <a:lvl5pPr marL="2591796" indent="0">
              <a:buNone/>
              <a:defRPr sz="2268" b="1"/>
            </a:lvl5pPr>
            <a:lvl6pPr marL="3239745" indent="0">
              <a:buNone/>
              <a:defRPr sz="2268" b="1"/>
            </a:lvl6pPr>
            <a:lvl7pPr marL="3887694" indent="0">
              <a:buNone/>
              <a:defRPr sz="2268" b="1"/>
            </a:lvl7pPr>
            <a:lvl8pPr marL="4535644" indent="0">
              <a:buNone/>
              <a:defRPr sz="2268" b="1"/>
            </a:lvl8pPr>
            <a:lvl9pPr marL="5183592" indent="0">
              <a:buNone/>
              <a:defRPr sz="22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9" y="3550596"/>
            <a:ext cx="7310223" cy="5222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2382819"/>
            <a:ext cx="7346224" cy="1167781"/>
          </a:xfrm>
        </p:spPr>
        <p:txBody>
          <a:bodyPr anchor="b"/>
          <a:lstStyle>
            <a:lvl1pPr marL="0" indent="0">
              <a:buNone/>
              <a:defRPr sz="3401" b="1"/>
            </a:lvl1pPr>
            <a:lvl2pPr marL="647950" indent="0">
              <a:buNone/>
              <a:defRPr sz="2835" b="1"/>
            </a:lvl2pPr>
            <a:lvl3pPr marL="1295898" indent="0">
              <a:buNone/>
              <a:defRPr sz="2551" b="1"/>
            </a:lvl3pPr>
            <a:lvl4pPr marL="1943848" indent="0">
              <a:buNone/>
              <a:defRPr sz="2268" b="1"/>
            </a:lvl4pPr>
            <a:lvl5pPr marL="2591796" indent="0">
              <a:buNone/>
              <a:defRPr sz="2268" b="1"/>
            </a:lvl5pPr>
            <a:lvl6pPr marL="3239745" indent="0">
              <a:buNone/>
              <a:defRPr sz="2268" b="1"/>
            </a:lvl6pPr>
            <a:lvl7pPr marL="3887694" indent="0">
              <a:buNone/>
              <a:defRPr sz="2268" b="1"/>
            </a:lvl7pPr>
            <a:lvl8pPr marL="4535644" indent="0">
              <a:buNone/>
              <a:defRPr sz="2268" b="1"/>
            </a:lvl8pPr>
            <a:lvl9pPr marL="5183592" indent="0">
              <a:buNone/>
              <a:defRPr sz="22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3550596"/>
            <a:ext cx="7346224" cy="5222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8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9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8" y="648022"/>
            <a:ext cx="5573229" cy="2268061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5" y="1399543"/>
            <a:ext cx="8747969" cy="6907687"/>
          </a:xfrm>
        </p:spPr>
        <p:txBody>
          <a:bodyPr/>
          <a:lstStyle>
            <a:lvl1pPr>
              <a:defRPr sz="4535"/>
            </a:lvl1pPr>
            <a:lvl2pPr>
              <a:defRPr sz="3968"/>
            </a:lvl2pPr>
            <a:lvl3pPr>
              <a:defRPr sz="3401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8" y="2916080"/>
            <a:ext cx="5573229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50" indent="0">
              <a:buNone/>
              <a:defRPr sz="1984"/>
            </a:lvl2pPr>
            <a:lvl3pPr marL="1295898" indent="0">
              <a:buNone/>
              <a:defRPr sz="1701"/>
            </a:lvl3pPr>
            <a:lvl4pPr marL="1943848" indent="0">
              <a:buNone/>
              <a:defRPr sz="1416"/>
            </a:lvl4pPr>
            <a:lvl5pPr marL="2591796" indent="0">
              <a:buNone/>
              <a:defRPr sz="1416"/>
            </a:lvl5pPr>
            <a:lvl6pPr marL="3239745" indent="0">
              <a:buNone/>
              <a:defRPr sz="1416"/>
            </a:lvl6pPr>
            <a:lvl7pPr marL="3887694" indent="0">
              <a:buNone/>
              <a:defRPr sz="1416"/>
            </a:lvl7pPr>
            <a:lvl8pPr marL="4535644" indent="0">
              <a:buNone/>
              <a:defRPr sz="1416"/>
            </a:lvl8pPr>
            <a:lvl9pPr marL="5183592" indent="0">
              <a:buNone/>
              <a:defRPr sz="141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23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8" y="648022"/>
            <a:ext cx="5573229" cy="2268061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5" y="1399543"/>
            <a:ext cx="8747969" cy="6907687"/>
          </a:xfrm>
        </p:spPr>
        <p:txBody>
          <a:bodyPr anchor="t"/>
          <a:lstStyle>
            <a:lvl1pPr marL="0" indent="0">
              <a:buNone/>
              <a:defRPr sz="4535"/>
            </a:lvl1pPr>
            <a:lvl2pPr marL="647950" indent="0">
              <a:buNone/>
              <a:defRPr sz="3968"/>
            </a:lvl2pPr>
            <a:lvl3pPr marL="1295898" indent="0">
              <a:buNone/>
              <a:defRPr sz="3401"/>
            </a:lvl3pPr>
            <a:lvl4pPr marL="1943848" indent="0">
              <a:buNone/>
              <a:defRPr sz="2835"/>
            </a:lvl4pPr>
            <a:lvl5pPr marL="2591796" indent="0">
              <a:buNone/>
              <a:defRPr sz="2835"/>
            </a:lvl5pPr>
            <a:lvl6pPr marL="3239745" indent="0">
              <a:buNone/>
              <a:defRPr sz="2835"/>
            </a:lvl6pPr>
            <a:lvl7pPr marL="3887694" indent="0">
              <a:buNone/>
              <a:defRPr sz="2835"/>
            </a:lvl7pPr>
            <a:lvl8pPr marL="4535644" indent="0">
              <a:buNone/>
              <a:defRPr sz="2835"/>
            </a:lvl8pPr>
            <a:lvl9pPr marL="5183592" indent="0">
              <a:buNone/>
              <a:defRPr sz="283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8" y="2916080"/>
            <a:ext cx="5573229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50" indent="0">
              <a:buNone/>
              <a:defRPr sz="1984"/>
            </a:lvl2pPr>
            <a:lvl3pPr marL="1295898" indent="0">
              <a:buNone/>
              <a:defRPr sz="1701"/>
            </a:lvl3pPr>
            <a:lvl4pPr marL="1943848" indent="0">
              <a:buNone/>
              <a:defRPr sz="1416"/>
            </a:lvl4pPr>
            <a:lvl5pPr marL="2591796" indent="0">
              <a:buNone/>
              <a:defRPr sz="1416"/>
            </a:lvl5pPr>
            <a:lvl6pPr marL="3239745" indent="0">
              <a:buNone/>
              <a:defRPr sz="1416"/>
            </a:lvl6pPr>
            <a:lvl7pPr marL="3887694" indent="0">
              <a:buNone/>
              <a:defRPr sz="1416"/>
            </a:lvl7pPr>
            <a:lvl8pPr marL="4535644" indent="0">
              <a:buNone/>
              <a:defRPr sz="1416"/>
            </a:lvl8pPr>
            <a:lvl9pPr marL="5183592" indent="0">
              <a:buNone/>
              <a:defRPr sz="141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01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06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6" y="517514"/>
            <a:ext cx="3725987" cy="82374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8" y="517514"/>
            <a:ext cx="10961961" cy="82374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0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8" y="517514"/>
            <a:ext cx="14903947" cy="1878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8" y="2587570"/>
            <a:ext cx="14903947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7" y="9009244"/>
            <a:ext cx="3887987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7B908-5D6C-446C-B3D5-A1DADDF96F5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1" y="9009244"/>
            <a:ext cx="5831980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7" y="9009244"/>
            <a:ext cx="3887987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5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95898" rtl="0" eaLnBrk="1" latinLnBrk="0" hangingPunct="1">
        <a:lnSpc>
          <a:spcPct val="90000"/>
        </a:lnSpc>
        <a:spcBef>
          <a:spcPct val="0"/>
        </a:spcBef>
        <a:buNone/>
        <a:defRPr sz="62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974" indent="-323974" algn="l" defTabSz="1295898" rtl="0" eaLnBrk="1" latinLnBrk="0" hangingPunct="1">
        <a:lnSpc>
          <a:spcPct val="90000"/>
        </a:lnSpc>
        <a:spcBef>
          <a:spcPts val="1416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971923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2pPr>
      <a:lvl3pPr marL="1619873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7821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5771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3721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1668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59618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7567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7950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5898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3848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1796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39745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7694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5644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3592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>
            <a:extLst>
              <a:ext uri="{FF2B5EF4-FFF2-40B4-BE49-F238E27FC236}">
                <a16:creationId xmlns:a16="http://schemas.microsoft.com/office/drawing/2014/main" id="{1A7267B7-280E-3C08-D21E-265F2D06D009}"/>
              </a:ext>
            </a:extLst>
          </p:cNvPr>
          <p:cNvSpPr/>
          <p:nvPr/>
        </p:nvSpPr>
        <p:spPr>
          <a:xfrm>
            <a:off x="8764305" y="7327192"/>
            <a:ext cx="7224996" cy="2244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2F122CB-E460-6B2F-E693-30DB8EE383AF}"/>
              </a:ext>
            </a:extLst>
          </p:cNvPr>
          <p:cNvSpPr/>
          <p:nvPr/>
        </p:nvSpPr>
        <p:spPr>
          <a:xfrm>
            <a:off x="8764305" y="4174010"/>
            <a:ext cx="7224996" cy="2999664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6615E24-A6B4-DDBE-F6F2-13D6C1117C01}"/>
              </a:ext>
            </a:extLst>
          </p:cNvPr>
          <p:cNvSpPr/>
          <p:nvPr/>
        </p:nvSpPr>
        <p:spPr>
          <a:xfrm>
            <a:off x="1101755" y="4179358"/>
            <a:ext cx="7475688" cy="5389840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988D513-917C-FE94-4DE8-7CD85F8D4CD5}"/>
              </a:ext>
            </a:extLst>
          </p:cNvPr>
          <p:cNvSpPr/>
          <p:nvPr/>
        </p:nvSpPr>
        <p:spPr>
          <a:xfrm>
            <a:off x="8781290" y="49271"/>
            <a:ext cx="2902673" cy="3916336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4E728DB-CC73-8794-FC95-B2DAADE7E450}"/>
              </a:ext>
            </a:extLst>
          </p:cNvPr>
          <p:cNvSpPr/>
          <p:nvPr/>
        </p:nvSpPr>
        <p:spPr>
          <a:xfrm>
            <a:off x="11887795" y="46209"/>
            <a:ext cx="4101506" cy="3916336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807708-E958-519E-355F-034C54D8F895}"/>
              </a:ext>
            </a:extLst>
          </p:cNvPr>
          <p:cNvSpPr/>
          <p:nvPr/>
        </p:nvSpPr>
        <p:spPr>
          <a:xfrm>
            <a:off x="1101756" y="58392"/>
            <a:ext cx="7475689" cy="3907216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pic>
        <p:nvPicPr>
          <p:cNvPr id="5" name="图形 4" descr="部分选中的剪贴板 纯色填充">
            <a:extLst>
              <a:ext uri="{FF2B5EF4-FFF2-40B4-BE49-F238E27FC236}">
                <a16:creationId xmlns:a16="http://schemas.microsoft.com/office/drawing/2014/main" id="{5A64C9D8-2CD1-1501-9283-981DF1CC5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55" y="131710"/>
            <a:ext cx="914400" cy="914400"/>
          </a:xfrm>
          <a:prstGeom prst="rect">
            <a:avLst/>
          </a:prstGeom>
        </p:spPr>
      </p:pic>
      <p:pic>
        <p:nvPicPr>
          <p:cNvPr id="11" name="图形 10" descr="沙漏 30% 纯色填充">
            <a:extLst>
              <a:ext uri="{FF2B5EF4-FFF2-40B4-BE49-F238E27FC236}">
                <a16:creationId xmlns:a16="http://schemas.microsoft.com/office/drawing/2014/main" id="{E6CF08C6-E8E4-AB7C-59FD-B8F402B00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87795" y="55328"/>
            <a:ext cx="914400" cy="914400"/>
          </a:xfrm>
          <a:prstGeom prst="rect">
            <a:avLst/>
          </a:prstGeom>
        </p:spPr>
      </p:pic>
      <p:pic>
        <p:nvPicPr>
          <p:cNvPr id="15" name="图形 14" descr="房子 纯色填充">
            <a:extLst>
              <a:ext uri="{FF2B5EF4-FFF2-40B4-BE49-F238E27FC236}">
                <a16:creationId xmlns:a16="http://schemas.microsoft.com/office/drawing/2014/main" id="{BCB586D1-4F42-73C9-F85B-CBD6A5EDAD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6927" y="4278466"/>
            <a:ext cx="914400" cy="914400"/>
          </a:xfrm>
          <a:prstGeom prst="rect">
            <a:avLst/>
          </a:prstGeom>
        </p:spPr>
      </p:pic>
      <p:pic>
        <p:nvPicPr>
          <p:cNvPr id="17" name="图形 16" descr="复选标记 纯色填充">
            <a:extLst>
              <a:ext uri="{FF2B5EF4-FFF2-40B4-BE49-F238E27FC236}">
                <a16:creationId xmlns:a16="http://schemas.microsoft.com/office/drawing/2014/main" id="{C4F600CC-0A96-2135-9898-50B3C150D9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53034" y="84471"/>
            <a:ext cx="914400" cy="9144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1A6B9E-2348-4190-3F59-222BE4D438E3}"/>
              </a:ext>
            </a:extLst>
          </p:cNvPr>
          <p:cNvSpPr/>
          <p:nvPr/>
        </p:nvSpPr>
        <p:spPr>
          <a:xfrm>
            <a:off x="12268278" y="1181194"/>
            <a:ext cx="3495717" cy="1129864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Texas in USA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High Income &amp; High assets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Mature Insurance Market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hurricanes &amp; winter storms.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C48A8-241E-BFAE-CDE7-89953B4B9733}"/>
              </a:ext>
            </a:extLst>
          </p:cNvPr>
          <p:cNvSpPr/>
          <p:nvPr/>
        </p:nvSpPr>
        <p:spPr>
          <a:xfrm>
            <a:off x="12267920" y="2485233"/>
            <a:ext cx="3495717" cy="1293349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Luzon in Philippine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Developing Region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Immature Insurance Market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Typhoon &amp; Flooding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E4F335-2847-7DFB-8806-5314D7E1F389}"/>
              </a:ext>
            </a:extLst>
          </p:cNvPr>
          <p:cNvSpPr txBox="1"/>
          <p:nvPr/>
        </p:nvSpPr>
        <p:spPr>
          <a:xfrm>
            <a:off x="12683178" y="0"/>
            <a:ext cx="2461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Preparation</a:t>
            </a:r>
          </a:p>
          <a:p>
            <a:r>
              <a:rPr lang="en-US" altLang="zh-CN" sz="2000" b="1" dirty="0">
                <a:latin typeface="+mn-ea"/>
              </a:rPr>
              <a:t>Data Collection</a:t>
            </a:r>
          </a:p>
          <a:p>
            <a:r>
              <a:rPr lang="en-US" altLang="zh-CN" sz="2000" b="1" dirty="0">
                <a:latin typeface="+mn-ea"/>
              </a:rPr>
              <a:t>&amp; Pre-processing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3B7C36-3344-21B4-28C9-2BA3BA0C5DC3}"/>
              </a:ext>
            </a:extLst>
          </p:cNvPr>
          <p:cNvSpPr txBox="1"/>
          <p:nvPr/>
        </p:nvSpPr>
        <p:spPr>
          <a:xfrm>
            <a:off x="1918886" y="50301"/>
            <a:ext cx="44474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1</a:t>
            </a:r>
          </a:p>
          <a:p>
            <a:r>
              <a:rPr lang="en-US" altLang="zh-CN" sz="2000" b="1" dirty="0">
                <a:latin typeface="+mn-ea"/>
              </a:rPr>
              <a:t>Model 1</a:t>
            </a:r>
          </a:p>
          <a:p>
            <a:r>
              <a:rPr lang="en-US" altLang="zh-CN" sz="2000" b="1" dirty="0">
                <a:latin typeface="+mn-ea"/>
              </a:rPr>
              <a:t>Insurance Underwriting Model 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E0B7E13-0FFF-812B-A3FD-74EF4851406C}"/>
              </a:ext>
            </a:extLst>
          </p:cNvPr>
          <p:cNvSpPr/>
          <p:nvPr/>
        </p:nvSpPr>
        <p:spPr>
          <a:xfrm>
            <a:off x="1236929" y="1237320"/>
            <a:ext cx="222144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Quantify risks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4BC1BB-6634-D5DD-326A-4E7BD88A931B}"/>
              </a:ext>
            </a:extLst>
          </p:cNvPr>
          <p:cNvSpPr/>
          <p:nvPr/>
        </p:nvSpPr>
        <p:spPr>
          <a:xfrm>
            <a:off x="1236927" y="2209638"/>
            <a:ext cx="2221448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Accumulate losses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A8FD8EF-5C60-B87E-AE92-B5363323925D}"/>
              </a:ext>
            </a:extLst>
          </p:cNvPr>
          <p:cNvSpPr/>
          <p:nvPr/>
        </p:nvSpPr>
        <p:spPr>
          <a:xfrm>
            <a:off x="3770670" y="1232571"/>
            <a:ext cx="347468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Minimum Viable Premium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Insurers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978C3DB-7324-EAF0-1C09-70650301384F}"/>
              </a:ext>
            </a:extLst>
          </p:cNvPr>
          <p:cNvSpPr/>
          <p:nvPr/>
        </p:nvSpPr>
        <p:spPr>
          <a:xfrm>
            <a:off x="3770670" y="2202732"/>
            <a:ext cx="347468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Maximum Affordable Premium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Homeowners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2FEBE2D-95A0-5B86-1645-E49B7D1A98F6}"/>
              </a:ext>
            </a:extLst>
          </p:cNvPr>
          <p:cNvSpPr/>
          <p:nvPr/>
        </p:nvSpPr>
        <p:spPr>
          <a:xfrm>
            <a:off x="6736022" y="3186707"/>
            <a:ext cx="176424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Decision Inequation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CCE28FC-AA78-280B-7A93-35EF6D4A242B}"/>
              </a:ext>
            </a:extLst>
          </p:cNvPr>
          <p:cNvSpPr/>
          <p:nvPr/>
        </p:nvSpPr>
        <p:spPr>
          <a:xfrm>
            <a:off x="3770664" y="3186707"/>
            <a:ext cx="176424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Solvency Constraint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F9A3DC-FA6A-DB5B-C96B-E4496B48D669}"/>
              </a:ext>
            </a:extLst>
          </p:cNvPr>
          <p:cNvSpPr txBox="1"/>
          <p:nvPr/>
        </p:nvSpPr>
        <p:spPr>
          <a:xfrm>
            <a:off x="9828900" y="10005"/>
            <a:ext cx="13935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2</a:t>
            </a:r>
          </a:p>
          <a:p>
            <a:r>
              <a:rPr lang="en-US" altLang="zh-CN" sz="2000" b="1" dirty="0">
                <a:latin typeface="+mn-ea"/>
              </a:rPr>
              <a:t>Model 1</a:t>
            </a:r>
          </a:p>
          <a:p>
            <a:r>
              <a:rPr lang="en-US" altLang="zh-CN" sz="2000" b="1" dirty="0">
                <a:latin typeface="+mn-ea"/>
              </a:rPr>
              <a:t>Validation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C4E890D-CBF9-094C-3BDF-76EE7C97964B}"/>
              </a:ext>
            </a:extLst>
          </p:cNvPr>
          <p:cNvSpPr/>
          <p:nvPr/>
        </p:nvSpPr>
        <p:spPr>
          <a:xfrm>
            <a:off x="8922870" y="1237320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Property Owners’ Behavior Factor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676EC76-984A-D8A5-EC67-F0AF2C464E9D}"/>
              </a:ext>
            </a:extLst>
          </p:cNvPr>
          <p:cNvSpPr/>
          <p:nvPr/>
        </p:nvSpPr>
        <p:spPr>
          <a:xfrm>
            <a:off x="8922870" y="3186707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Insurance Market Failure Point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1D51B7-A5A0-51C8-A29F-D1C3DA6D9BED}"/>
              </a:ext>
            </a:extLst>
          </p:cNvPr>
          <p:cNvSpPr txBox="1"/>
          <p:nvPr/>
        </p:nvSpPr>
        <p:spPr>
          <a:xfrm>
            <a:off x="2050556" y="4197058"/>
            <a:ext cx="50139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3</a:t>
            </a:r>
          </a:p>
          <a:p>
            <a:r>
              <a:rPr lang="en-US" altLang="zh-CN" sz="2000" b="1" dirty="0">
                <a:latin typeface="+mn-ea"/>
              </a:rPr>
              <a:t>Model 2</a:t>
            </a:r>
          </a:p>
          <a:p>
            <a:r>
              <a:rPr lang="en-US" altLang="zh-CN" sz="2000" b="1" dirty="0">
                <a:latin typeface="+mn-ea"/>
              </a:rPr>
              <a:t>Dynamic Resilience Life-Cycle Cost Model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796043D-978F-86D5-842C-157084328DD4}"/>
              </a:ext>
            </a:extLst>
          </p:cNvPr>
          <p:cNvSpPr/>
          <p:nvPr/>
        </p:nvSpPr>
        <p:spPr>
          <a:xfrm>
            <a:off x="5279015" y="7099378"/>
            <a:ext cx="3151667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Minimize Total Cost of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Ownership (TCO)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0DBE3DB-C2C6-E65A-89F2-9A40A213F48E}"/>
              </a:ext>
            </a:extLst>
          </p:cNvPr>
          <p:cNvSpPr/>
          <p:nvPr/>
        </p:nvSpPr>
        <p:spPr>
          <a:xfrm>
            <a:off x="1248883" y="5422679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Initial Construction Cost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AC910E9-4601-C3A6-0808-D33EA2810DFA}"/>
              </a:ext>
            </a:extLst>
          </p:cNvPr>
          <p:cNvSpPr/>
          <p:nvPr/>
        </p:nvSpPr>
        <p:spPr>
          <a:xfrm>
            <a:off x="1248883" y="7099378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Minimum Viable Premium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E622764-F1A7-50BC-DC8D-3CA96F131E4B}"/>
              </a:ext>
            </a:extLst>
          </p:cNvPr>
          <p:cNvSpPr/>
          <p:nvPr/>
        </p:nvSpPr>
        <p:spPr>
          <a:xfrm>
            <a:off x="1248883" y="8776077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Expected Residual Loss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B905329-746F-F063-B978-99579833A903}"/>
              </a:ext>
            </a:extLst>
          </p:cNvPr>
          <p:cNvSpPr txBox="1"/>
          <p:nvPr/>
        </p:nvSpPr>
        <p:spPr>
          <a:xfrm>
            <a:off x="9609286" y="4197058"/>
            <a:ext cx="40516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4</a:t>
            </a:r>
          </a:p>
          <a:p>
            <a:r>
              <a:rPr lang="en-US" altLang="zh-CN" sz="2000" b="1" dirty="0">
                <a:latin typeface="+mn-ea"/>
              </a:rPr>
              <a:t>Model 3</a:t>
            </a:r>
          </a:p>
          <a:p>
            <a:r>
              <a:rPr lang="en-US" altLang="zh-CN" sz="2000" b="1" dirty="0">
                <a:latin typeface="+mn-ea"/>
              </a:rPr>
              <a:t>Cultural Relics Protection Model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65C5F1E-2C4D-C3E7-B18F-122414471D70}"/>
              </a:ext>
            </a:extLst>
          </p:cNvPr>
          <p:cNvSpPr/>
          <p:nvPr/>
        </p:nvSpPr>
        <p:spPr>
          <a:xfrm>
            <a:off x="8885468" y="5857640"/>
            <a:ext cx="2003363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Protection Index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(PI)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78F68FE-906D-5841-5CAB-4BCD2EFD2E0F}"/>
              </a:ext>
            </a:extLst>
          </p:cNvPr>
          <p:cNvSpPr/>
          <p:nvPr/>
        </p:nvSpPr>
        <p:spPr>
          <a:xfrm>
            <a:off x="13993856" y="5372127"/>
            <a:ext cx="1755581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Intangible Cultural Value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BF0BB07-C606-0C0C-DB24-8832E261A941}"/>
              </a:ext>
            </a:extLst>
          </p:cNvPr>
          <p:cNvSpPr/>
          <p:nvPr/>
        </p:nvSpPr>
        <p:spPr>
          <a:xfrm>
            <a:off x="11458244" y="5368052"/>
            <a:ext cx="1934698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Economic value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D6BA1F7-D884-5CC3-5CB6-662B4C92E9C8}"/>
              </a:ext>
            </a:extLst>
          </p:cNvPr>
          <p:cNvSpPr/>
          <p:nvPr/>
        </p:nvSpPr>
        <p:spPr>
          <a:xfrm>
            <a:off x="11462700" y="6277897"/>
            <a:ext cx="1930242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Protective Measures Cost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9288EE3-ED45-D970-FE85-854EFA612B61}"/>
              </a:ext>
            </a:extLst>
          </p:cNvPr>
          <p:cNvSpPr/>
          <p:nvPr/>
        </p:nvSpPr>
        <p:spPr>
          <a:xfrm>
            <a:off x="13993856" y="6243311"/>
            <a:ext cx="1755581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Expected Residual Loss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FA9C6A8-CD5E-D71A-E370-2FB4BD3A838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2347654" y="1792196"/>
            <a:ext cx="1" cy="417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963957E3-B705-D25A-1F42-5C4458D20E66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3458376" y="1510008"/>
            <a:ext cx="312288" cy="977068"/>
          </a:xfrm>
          <a:prstGeom prst="bentConnector3">
            <a:avLst>
              <a:gd name="adj1" fmla="val 398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CBD44A6-4E71-B949-876C-30F0F6D80EF6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>
            <a:off x="8500275" y="3464145"/>
            <a:ext cx="4226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BBE5AFDF-176B-437E-70D9-B845F5A175E3}"/>
              </a:ext>
            </a:extLst>
          </p:cNvPr>
          <p:cNvCxnSpPr>
            <a:cxnSpLocks/>
            <a:stCxn id="19" idx="1"/>
            <a:endCxn id="35" idx="3"/>
          </p:cNvCxnSpPr>
          <p:nvPr/>
        </p:nvCxnSpPr>
        <p:spPr>
          <a:xfrm rot="10800000" flipV="1">
            <a:off x="11402940" y="1746132"/>
            <a:ext cx="865330" cy="1718019"/>
          </a:xfrm>
          <a:prstGeom prst="bentConnector3">
            <a:avLst>
              <a:gd name="adj1" fmla="val 2945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50043013-E659-3F0A-30BA-31E32483CCD3}"/>
              </a:ext>
            </a:extLst>
          </p:cNvPr>
          <p:cNvCxnSpPr>
            <a:cxnSpLocks/>
            <a:stCxn id="20" idx="1"/>
            <a:endCxn id="35" idx="3"/>
          </p:cNvCxnSpPr>
          <p:nvPr/>
        </p:nvCxnSpPr>
        <p:spPr>
          <a:xfrm rot="10800000" flipV="1">
            <a:off x="11402949" y="3131900"/>
            <a:ext cx="864973" cy="332244"/>
          </a:xfrm>
          <a:prstGeom prst="bentConnector3">
            <a:avLst>
              <a:gd name="adj1" fmla="val 2907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18A6F103-3CFF-4D4A-3CD4-97A72D882ACD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10162905" y="1792203"/>
            <a:ext cx="0" cy="1394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ACCED84-3273-8733-24D7-B29420454B8B}"/>
              </a:ext>
            </a:extLst>
          </p:cNvPr>
          <p:cNvSpPr/>
          <p:nvPr/>
        </p:nvSpPr>
        <p:spPr>
          <a:xfrm>
            <a:off x="5293023" y="8763059"/>
            <a:ext cx="3137659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Optimal Resilience Level</a:t>
            </a:r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379ACB34-4DF8-1F44-1859-5E434DCC65D0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4400558" y="5700125"/>
            <a:ext cx="878457" cy="167669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96DB6E28-4AD4-8D70-598A-E2BB010D6F51}"/>
              </a:ext>
            </a:extLst>
          </p:cNvPr>
          <p:cNvCxnSpPr>
            <a:cxnSpLocks/>
            <a:stCxn id="40" idx="3"/>
            <a:endCxn id="37" idx="1"/>
          </p:cNvCxnSpPr>
          <p:nvPr/>
        </p:nvCxnSpPr>
        <p:spPr>
          <a:xfrm flipV="1">
            <a:off x="4400558" y="7376824"/>
            <a:ext cx="878457" cy="167669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0171ADE1-8F57-0F06-34E3-A3E6FEFF872D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4400558" y="7376816"/>
            <a:ext cx="8784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6F187F31-4363-DF74-E5B0-E0F182208591}"/>
              </a:ext>
            </a:extLst>
          </p:cNvPr>
          <p:cNvCxnSpPr>
            <a:cxnSpLocks/>
            <a:stCxn id="37" idx="2"/>
            <a:endCxn id="103" idx="0"/>
          </p:cNvCxnSpPr>
          <p:nvPr/>
        </p:nvCxnSpPr>
        <p:spPr>
          <a:xfrm>
            <a:off x="6854841" y="7654255"/>
            <a:ext cx="7004" cy="1108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图形 121" descr="希腊柱子 纯色填充">
            <a:extLst>
              <a:ext uri="{FF2B5EF4-FFF2-40B4-BE49-F238E27FC236}">
                <a16:creationId xmlns:a16="http://schemas.microsoft.com/office/drawing/2014/main" id="{9261AB7E-E272-11A1-21DA-B488BD1E18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1283" y="4249883"/>
            <a:ext cx="914400" cy="914400"/>
          </a:xfrm>
          <a:prstGeom prst="rect">
            <a:avLst/>
          </a:prstGeom>
        </p:spPr>
      </p:pic>
      <p:sp>
        <p:nvSpPr>
          <p:cNvPr id="124" name="等号 123">
            <a:extLst>
              <a:ext uri="{FF2B5EF4-FFF2-40B4-BE49-F238E27FC236}">
                <a16:creationId xmlns:a16="http://schemas.microsoft.com/office/drawing/2014/main" id="{F96546DB-398F-FFDD-074A-3D9BF9C0FCF6}"/>
              </a:ext>
            </a:extLst>
          </p:cNvPr>
          <p:cNvSpPr/>
          <p:nvPr/>
        </p:nvSpPr>
        <p:spPr>
          <a:xfrm>
            <a:off x="10893407" y="5886374"/>
            <a:ext cx="382439" cy="423506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5" name="减号 124">
            <a:extLst>
              <a:ext uri="{FF2B5EF4-FFF2-40B4-BE49-F238E27FC236}">
                <a16:creationId xmlns:a16="http://schemas.microsoft.com/office/drawing/2014/main" id="{DDFD536F-228D-1288-67CC-16DA776001C4}"/>
              </a:ext>
            </a:extLst>
          </p:cNvPr>
          <p:cNvSpPr/>
          <p:nvPr/>
        </p:nvSpPr>
        <p:spPr>
          <a:xfrm>
            <a:off x="10558107" y="5967640"/>
            <a:ext cx="6098629" cy="260105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加号 125">
            <a:extLst>
              <a:ext uri="{FF2B5EF4-FFF2-40B4-BE49-F238E27FC236}">
                <a16:creationId xmlns:a16="http://schemas.microsoft.com/office/drawing/2014/main" id="{B1C47AD5-1CEE-2B5B-2AF9-EC6E176F7E1B}"/>
              </a:ext>
            </a:extLst>
          </p:cNvPr>
          <p:cNvSpPr/>
          <p:nvPr/>
        </p:nvSpPr>
        <p:spPr>
          <a:xfrm>
            <a:off x="13476914" y="5427794"/>
            <a:ext cx="423506" cy="42350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加号 126">
            <a:extLst>
              <a:ext uri="{FF2B5EF4-FFF2-40B4-BE49-F238E27FC236}">
                <a16:creationId xmlns:a16="http://schemas.microsoft.com/office/drawing/2014/main" id="{FEF3DABA-A034-B7CF-D81A-F719A512788C}"/>
              </a:ext>
            </a:extLst>
          </p:cNvPr>
          <p:cNvSpPr/>
          <p:nvPr/>
        </p:nvSpPr>
        <p:spPr>
          <a:xfrm>
            <a:off x="13479032" y="6308996"/>
            <a:ext cx="423506" cy="42350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9" name="图形 128" descr="文档 纯色填充">
            <a:extLst>
              <a:ext uri="{FF2B5EF4-FFF2-40B4-BE49-F238E27FC236}">
                <a16:creationId xmlns:a16="http://schemas.microsoft.com/office/drawing/2014/main" id="{DBC5581B-EC77-AFE4-689A-8BDDF0AFBF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90479" y="7382076"/>
            <a:ext cx="914400" cy="914400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89ED2FCF-C840-0133-62F0-D3D9C0B6398E}"/>
              </a:ext>
            </a:extLst>
          </p:cNvPr>
          <p:cNvSpPr txBox="1"/>
          <p:nvPr/>
        </p:nvSpPr>
        <p:spPr>
          <a:xfrm>
            <a:off x="9609286" y="7423785"/>
            <a:ext cx="4051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5</a:t>
            </a:r>
          </a:p>
          <a:p>
            <a:r>
              <a:rPr lang="en-US" altLang="zh-CN" sz="2400" b="1" dirty="0">
                <a:latin typeface="+mn-ea"/>
              </a:rPr>
              <a:t>Letter Writing</a:t>
            </a:r>
          </a:p>
        </p:txBody>
      </p: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F2727C0E-9B38-B087-902E-78BB2279E6A6}"/>
              </a:ext>
            </a:extLst>
          </p:cNvPr>
          <p:cNvCxnSpPr>
            <a:cxnSpLocks/>
            <a:stCxn id="25" idx="3"/>
            <a:endCxn id="29" idx="0"/>
          </p:cNvCxnSpPr>
          <p:nvPr/>
        </p:nvCxnSpPr>
        <p:spPr>
          <a:xfrm>
            <a:off x="7245350" y="1510015"/>
            <a:ext cx="372794" cy="167669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72C89AA3-9F95-C80A-4B13-0AAD11A3F141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>
            <a:off x="7245350" y="2480178"/>
            <a:ext cx="372794" cy="7065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033CB97F-5CB4-6E02-582D-BA2F9CA25F79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534910" y="3464145"/>
            <a:ext cx="12011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C139F168-3FDD-2858-B9E1-EE0090F8856E}"/>
              </a:ext>
            </a:extLst>
          </p:cNvPr>
          <p:cNvSpPr/>
          <p:nvPr/>
        </p:nvSpPr>
        <p:spPr>
          <a:xfrm>
            <a:off x="8885845" y="8351369"/>
            <a:ext cx="5498577" cy="1121551"/>
          </a:xfrm>
          <a:prstGeom prst="roundRect">
            <a:avLst/>
          </a:prstGeom>
          <a:solidFill>
            <a:srgbClr val="E5FC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To Mayor and City Council of San Antonio,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Climate Resilience Bonds should be applied to protect the Saint Antonio Missions Historical Park  </a:t>
            </a:r>
          </a:p>
        </p:txBody>
      </p: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BC43584A-FA28-1BCB-6E9C-946B335200D6}"/>
              </a:ext>
            </a:extLst>
          </p:cNvPr>
          <p:cNvCxnSpPr>
            <a:cxnSpLocks/>
            <a:stCxn id="42" idx="1"/>
            <a:endCxn id="178" idx="1"/>
          </p:cNvCxnSpPr>
          <p:nvPr/>
        </p:nvCxnSpPr>
        <p:spPr>
          <a:xfrm rot="10800000" flipH="1" flipV="1">
            <a:off x="8885469" y="6135085"/>
            <a:ext cx="377" cy="2777059"/>
          </a:xfrm>
          <a:prstGeom prst="bentConnector3">
            <a:avLst>
              <a:gd name="adj1" fmla="val -607978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05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0400" y="1699342"/>
            <a:ext cx="11159960" cy="3455988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6" name="矩形 5"/>
          <p:cNvSpPr/>
          <p:nvPr/>
        </p:nvSpPr>
        <p:spPr>
          <a:xfrm>
            <a:off x="230401" y="5625145"/>
            <a:ext cx="3513587" cy="3634170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7" name="矩形 6"/>
          <p:cNvSpPr/>
          <p:nvPr/>
        </p:nvSpPr>
        <p:spPr>
          <a:xfrm>
            <a:off x="4053593" y="5625145"/>
            <a:ext cx="3513587" cy="3634170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8" name="矩形 7"/>
          <p:cNvSpPr/>
          <p:nvPr/>
        </p:nvSpPr>
        <p:spPr>
          <a:xfrm>
            <a:off x="7876780" y="5625145"/>
            <a:ext cx="3513587" cy="3634170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9" name="矩形 8"/>
          <p:cNvSpPr/>
          <p:nvPr/>
        </p:nvSpPr>
        <p:spPr>
          <a:xfrm>
            <a:off x="11728766" y="1696651"/>
            <a:ext cx="5191181" cy="7562664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0" name="文本框 9"/>
          <p:cNvSpPr txBox="1"/>
          <p:nvPr/>
        </p:nvSpPr>
        <p:spPr>
          <a:xfrm>
            <a:off x="345600" y="1696644"/>
            <a:ext cx="7913671" cy="852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Task1:  Develop Insurance Underwriting Model (Model 1)</a:t>
            </a:r>
          </a:p>
          <a:p>
            <a:endParaRPr lang="en-US" altLang="zh-CN" sz="25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858358" y="1711050"/>
            <a:ext cx="5062482" cy="18530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Task2:                                                                              Dual-Case Application of Model 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05580" y="5682737"/>
            <a:ext cx="371428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Task3:Resilience Life-Cycle Cost Model(Model  2)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88794" y="5697130"/>
            <a:ext cx="3578387" cy="10331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Task4:</a:t>
            </a:r>
            <a:r>
              <a:rPr lang="en-US" altLang="zh-CN" sz="22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Heritage Protection Model(Model 3) </a:t>
            </a:r>
            <a:endParaRPr lang="zh-CN" altLang="en-US" sz="226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8000" y="5697523"/>
            <a:ext cx="3671987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Task5:One-page Letter </a:t>
            </a:r>
            <a:endParaRPr lang="zh-CN" altLang="en-US" sz="25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71298" y="2661440"/>
            <a:ext cx="2258092" cy="70739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Markets</a:t>
            </a:r>
          </a:p>
        </p:txBody>
      </p:sp>
      <p:sp>
        <p:nvSpPr>
          <p:cNvPr id="18" name="矩形 17"/>
          <p:cNvSpPr/>
          <p:nvPr/>
        </p:nvSpPr>
        <p:spPr>
          <a:xfrm>
            <a:off x="771298" y="3491237"/>
            <a:ext cx="2258092" cy="70739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</a:p>
        </p:txBody>
      </p:sp>
      <p:sp>
        <p:nvSpPr>
          <p:cNvPr id="19" name="矩形 18"/>
          <p:cNvSpPr/>
          <p:nvPr/>
        </p:nvSpPr>
        <p:spPr>
          <a:xfrm>
            <a:off x="771298" y="4314734"/>
            <a:ext cx="2258092" cy="70739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 Heritage Sites</a:t>
            </a: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3029389" y="3015321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034789" y="3857370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029389" y="4668101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3569389" y="2548948"/>
            <a:ext cx="2196892" cy="8198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Quantification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3580188" y="3503844"/>
            <a:ext cx="2186092" cy="7073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Criterion Construction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3580194" y="4305741"/>
            <a:ext cx="2030393" cy="7073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Mechanism Integration</a:t>
            </a: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5766279" y="2959531"/>
            <a:ext cx="539998" cy="8208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5610580" y="3836153"/>
            <a:ext cx="529198" cy="8235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5766286" y="3836144"/>
            <a:ext cx="2914189" cy="212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317086" y="2803640"/>
            <a:ext cx="1834193" cy="103229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Underwriting</a:t>
            </a:r>
          </a:p>
        </p:txBody>
      </p:sp>
      <p:sp>
        <p:nvSpPr>
          <p:cNvPr id="38" name="矩形 37"/>
          <p:cNvSpPr/>
          <p:nvPr/>
        </p:nvSpPr>
        <p:spPr>
          <a:xfrm>
            <a:off x="6317086" y="3923243"/>
            <a:ext cx="1834193" cy="707397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</p:txBody>
      </p:sp>
      <p:sp>
        <p:nvSpPr>
          <p:cNvPr id="39" name="矩形 38"/>
          <p:cNvSpPr/>
          <p:nvPr/>
        </p:nvSpPr>
        <p:spPr>
          <a:xfrm>
            <a:off x="8418570" y="3234745"/>
            <a:ext cx="2780990" cy="91619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Underwriting Model 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12068064" y="2660539"/>
            <a:ext cx="4749283" cy="574198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x:Case Selection: Texas, Luzon Island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12067164" y="3323837"/>
            <a:ext cx="4750183" cy="598498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y:Baseline Simulation</a:t>
            </a:r>
          </a:p>
        </p:txBody>
      </p:sp>
      <p:sp>
        <p:nvSpPr>
          <p:cNvPr id="42" name="矩形: 圆角 41"/>
          <p:cNvSpPr/>
          <p:nvPr/>
        </p:nvSpPr>
        <p:spPr>
          <a:xfrm>
            <a:off x="12068064" y="3988042"/>
            <a:ext cx="4748383" cy="7631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z:Intervention Analysis</a:t>
            </a: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11318359" y="3648020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12247157" y="4831558"/>
            <a:ext cx="4003184" cy="26898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3939151" y="6083411"/>
            <a:ext cx="175859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5479045" y="5554550"/>
            <a:ext cx="419398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b="1" dirty="0">
                <a:solidFill>
                  <a:srgbClr val="00B050"/>
                </a:solidFill>
              </a:rPr>
              <a:t>y</a:t>
            </a:r>
            <a:endParaRPr lang="zh-CN" altLang="en-US" sz="2551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13939150" y="4860132"/>
            <a:ext cx="0" cy="1217880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3490052" y="4751621"/>
            <a:ext cx="419398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sz="2551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13317254" y="6078013"/>
            <a:ext cx="621898" cy="101555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2810193" y="6730175"/>
            <a:ext cx="419398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b="1" dirty="0">
                <a:solidFill>
                  <a:srgbClr val="0070C0"/>
                </a:solidFill>
              </a:rPr>
              <a:t>x</a:t>
            </a:r>
            <a:endParaRPr lang="zh-CN" altLang="en-US" sz="2551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14066732" y="7318185"/>
            <a:ext cx="515249" cy="371920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57" name="矩形 56"/>
          <p:cNvSpPr/>
          <p:nvPr/>
        </p:nvSpPr>
        <p:spPr>
          <a:xfrm>
            <a:off x="12810195" y="7763363"/>
            <a:ext cx="2887550" cy="1004523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Effectiveness of Model 1</a:t>
            </a:r>
          </a:p>
        </p:txBody>
      </p:sp>
      <p:sp>
        <p:nvSpPr>
          <p:cNvPr id="58" name="矩形 57"/>
          <p:cNvSpPr/>
          <p:nvPr/>
        </p:nvSpPr>
        <p:spPr>
          <a:xfrm>
            <a:off x="8334698" y="6631066"/>
            <a:ext cx="2430711" cy="1058664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Total Cost of Ownership (TCO)</a:t>
            </a:r>
          </a:p>
        </p:txBody>
      </p:sp>
      <p:sp>
        <p:nvSpPr>
          <p:cNvPr id="59" name="矩形 58"/>
          <p:cNvSpPr/>
          <p:nvPr/>
        </p:nvSpPr>
        <p:spPr>
          <a:xfrm>
            <a:off x="8334698" y="8050455"/>
            <a:ext cx="2430711" cy="1058664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Dynamic Resilience Life-Cycle Cost Model</a:t>
            </a:r>
          </a:p>
        </p:txBody>
      </p:sp>
      <p:sp>
        <p:nvSpPr>
          <p:cNvPr id="60" name="箭头: 下 59"/>
          <p:cNvSpPr/>
          <p:nvPr/>
        </p:nvSpPr>
        <p:spPr>
          <a:xfrm>
            <a:off x="9292429" y="7690104"/>
            <a:ext cx="515249" cy="325250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11265300" y="7438104"/>
            <a:ext cx="5930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7406114" y="7438104"/>
            <a:ext cx="5930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297492" y="6597133"/>
            <a:ext cx="3025789" cy="844197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weights via Vculture and WLC</a:t>
            </a:r>
          </a:p>
        </p:txBody>
      </p:sp>
      <p:sp>
        <p:nvSpPr>
          <p:cNvPr id="65" name="矩形 64"/>
          <p:cNvSpPr/>
          <p:nvPr/>
        </p:nvSpPr>
        <p:spPr>
          <a:xfrm>
            <a:off x="4148987" y="7763528"/>
            <a:ext cx="1460694" cy="1354495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to form TC</a:t>
            </a:r>
          </a:p>
        </p:txBody>
      </p:sp>
      <p:sp>
        <p:nvSpPr>
          <p:cNvPr id="66" name="矩形 65"/>
          <p:cNvSpPr/>
          <p:nvPr/>
        </p:nvSpPr>
        <p:spPr>
          <a:xfrm>
            <a:off x="5766282" y="7763528"/>
            <a:ext cx="1764894" cy="1354495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Construct Preservation Index (PI=TV/TC)</a:t>
            </a: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5082691" y="7453598"/>
            <a:ext cx="727688" cy="3046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5876290" y="7464065"/>
            <a:ext cx="773141" cy="2996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3628789" y="7417089"/>
            <a:ext cx="52016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28500" y="6729424"/>
            <a:ext cx="1655094" cy="1769394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Community Recommendation Letter</a:t>
            </a:r>
          </a:p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26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143794" y="6306431"/>
            <a:ext cx="1522794" cy="1307695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98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core conclusions of the 3 models</a:t>
            </a:r>
          </a:p>
        </p:txBody>
      </p:sp>
      <p:sp>
        <p:nvSpPr>
          <p:cNvPr id="77" name="矩形 76"/>
          <p:cNvSpPr/>
          <p:nvPr/>
        </p:nvSpPr>
        <p:spPr>
          <a:xfrm>
            <a:off x="2143556" y="7834862"/>
            <a:ext cx="1522753" cy="1058664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98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Clarify risk early warning </a:t>
            </a:r>
          </a:p>
        </p:txBody>
      </p:sp>
      <p:cxnSp>
        <p:nvCxnSpPr>
          <p:cNvPr id="78" name="直接箭头连接符 77"/>
          <p:cNvCxnSpPr>
            <a:stCxn id="76" idx="1"/>
            <a:endCxn id="75" idx="3"/>
          </p:cNvCxnSpPr>
          <p:nvPr/>
        </p:nvCxnSpPr>
        <p:spPr>
          <a:xfrm flipH="1">
            <a:off x="1984022" y="6960280"/>
            <a:ext cx="160199" cy="6533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983983" y="7613942"/>
            <a:ext cx="160182" cy="9784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4A942D8-0DB1-0D9B-51E4-6827091A84E0}"/>
              </a:ext>
            </a:extLst>
          </p:cNvPr>
          <p:cNvSpPr/>
          <p:nvPr/>
        </p:nvSpPr>
        <p:spPr>
          <a:xfrm>
            <a:off x="2740942" y="2665047"/>
            <a:ext cx="2196892" cy="8198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Quantification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</TotalTime>
  <Words>298</Words>
  <Application>Microsoft Office PowerPoint</Application>
  <PresentationFormat>自定义</PresentationFormat>
  <Paragraphs>80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9319727@qq.com</dc:creator>
  <cp:lastModifiedBy>9319727@qq.com</cp:lastModifiedBy>
  <cp:revision>1</cp:revision>
  <dcterms:created xsi:type="dcterms:W3CDTF">2026-01-27T04:26:21Z</dcterms:created>
  <dcterms:modified xsi:type="dcterms:W3CDTF">2026-01-27T08:29:22Z</dcterms:modified>
</cp:coreProperties>
</file>